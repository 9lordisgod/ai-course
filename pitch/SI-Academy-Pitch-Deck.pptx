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6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  ·  SUPER INTELLIGENCE ACADEMY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111556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 THE MACHINE.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MIND.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640080" y="379476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Open-source K–12 AI literacy for British Columbia, Canada, and the world.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Aligned to AI for All. Built to ship in classrooms, community halls, and browsers.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800600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80060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K–12 PATHS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23160" y="4800600"/>
            <a:ext cx="1965960" cy="329184"/>
          </a:xfrm>
          <a:prstGeom prst="roundRect">
            <a:avLst>
              <a:gd name="adj" fmla="val 22222"/>
            </a:avLst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480060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BUILD TRACKS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80560" y="4800600"/>
            <a:ext cx="1783080" cy="329184"/>
          </a:xfrm>
          <a:prstGeom prst="roundRect">
            <a:avLst>
              <a:gd name="adj" fmla="val 22222"/>
            </a:avLst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4800600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 HUB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55080" y="4800600"/>
            <a:ext cx="2240280" cy="329184"/>
          </a:xfrm>
          <a:prstGeom prst="roundRect">
            <a:avLst>
              <a:gd name="adj" fmla="val 22222"/>
            </a:avLst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4800600"/>
            <a:ext cx="2240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RICHMOND + ONLINE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686800" y="4800600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1C1C1C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0" y="4800600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MIT LICENSE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PITCH DECK  ·  SEPTEMBER 2026  ·  GITHUB.COM/9LORDISGOD/AI-COURSE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914400"/>
            <a:ext cx="11155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Canada just declared AI literacy a national project.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classrooms still do not have a complete one.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5577840" cy="1737360"/>
          </a:xfrm>
          <a:prstGeom prst="roundRect">
            <a:avLst>
              <a:gd name="adj" fmla="val 3158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952" y="2395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58952" y="2907792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sampled B.C. secondary schools still lack AI-specific content in public codes of conduct (O'Keefe, 2026).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2194560"/>
            <a:ext cx="5577840" cy="1737360"/>
          </a:xfrm>
          <a:prstGeom prst="roundRect">
            <a:avLst>
              <a:gd name="adj" fmla="val 3158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65392" y="239572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HRS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565392" y="2907792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Federal Essentials for Students is a free three-hour course — necessary, not sufficient for K–12 depth.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4069080"/>
            <a:ext cx="5577840" cy="1737360"/>
          </a:xfrm>
          <a:prstGeom prst="roundRect">
            <a:avLst>
              <a:gd name="adj" fmla="val 3158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" y="427024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SD38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58952" y="4782312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Richmond already approved a Grade 11 BAA AI literacy course for 2026/27 and runs district AI PLT blocks.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4069080"/>
            <a:ext cx="5577840" cy="1737360"/>
          </a:xfrm>
          <a:prstGeom prst="roundRect">
            <a:avLst>
              <a:gd name="adj" fmla="val 3158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427024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K–12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565392" y="4782312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Federal literacy push is strongest at post-secondary. High-school implementation is still local and uneven.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6510528"/>
            <a:ext cx="11185855" cy="10973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6547104"/>
            <a:ext cx="9326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SOURCE  ·  PRIVACY FIRST  ·  CANADA ALIGNED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91440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 is the missing classroom layer.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1353312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living platform, not a PDF. Mastery points. Teacher tools. Voice. Policy explorer. Zero accounts.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874520"/>
            <a:ext cx="3657600" cy="1993392"/>
          </a:xfrm>
          <a:prstGeom prst="roundRect">
            <a:avLst>
              <a:gd name="adj" fmla="val 2752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2376" y="2130552"/>
            <a:ext cx="82296" cy="8229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1" name="Text 9"/>
          <p:cNvSpPr/>
          <p:nvPr/>
        </p:nvSpPr>
        <p:spPr>
          <a:xfrm>
            <a:off x="905256" y="203911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K–12 PATHS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22376" y="2441448"/>
            <a:ext cx="3218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Foundations · Critical Thinking · Ethics &amp; Responsibility · Futures &amp; Careers. 8 modules, 12 lessons.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43400" y="1874520"/>
            <a:ext cx="3657600" cy="1993392"/>
          </a:xfrm>
          <a:prstGeom prst="roundRect">
            <a:avLst>
              <a:gd name="adj" fmla="val 2752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62856" y="2130552"/>
            <a:ext cx="82296" cy="8229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5" name="Text 13"/>
          <p:cNvSpPr/>
          <p:nvPr/>
        </p:nvSpPr>
        <p:spPr>
          <a:xfrm>
            <a:off x="4745736" y="203911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BUILD TRACKS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62856" y="2441448"/>
            <a:ext cx="3218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 · Practitioner ML · AI Engineer · Academic. 16 modules, 48 lessons on open curricula.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83880" y="1874520"/>
            <a:ext cx="3657600" cy="1993392"/>
          </a:xfrm>
          <a:prstGeom prst="roundRect">
            <a:avLst>
              <a:gd name="adj" fmla="val 2752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03336" y="2130552"/>
            <a:ext cx="82296" cy="8229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9" name="Text 17"/>
          <p:cNvSpPr/>
          <p:nvPr/>
        </p:nvSpPr>
        <p:spPr>
          <a:xfrm>
            <a:off x="8586216" y="203911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 HUB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03336" y="2441448"/>
            <a:ext cx="3218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Traffic-light AI-use policy generator, disclosure templates, module planner, official sources.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4023360"/>
            <a:ext cx="3657600" cy="1993392"/>
          </a:xfrm>
          <a:prstGeom prst="roundRect">
            <a:avLst>
              <a:gd name="adj" fmla="val 2752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22376" y="4279392"/>
            <a:ext cx="82296" cy="8229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3" name="Text 21"/>
          <p:cNvSpPr/>
          <p:nvPr/>
        </p:nvSpPr>
        <p:spPr>
          <a:xfrm>
            <a:off x="905256" y="418795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MASTERY + VOICE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22376" y="4590288"/>
            <a:ext cx="3218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Khan-style levels, instant quizzes, printable certificates, ElevenLabs narration with browser fallback.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343400" y="4023360"/>
            <a:ext cx="3657600" cy="1993392"/>
          </a:xfrm>
          <a:prstGeom prst="roundRect">
            <a:avLst>
              <a:gd name="adj" fmla="val 2752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856" y="4279392"/>
            <a:ext cx="82296" cy="8229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7" name="Text 25"/>
          <p:cNvSpPr/>
          <p:nvPr/>
        </p:nvSpPr>
        <p:spPr>
          <a:xfrm>
            <a:off x="4745736" y="418795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 EXPLORER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62856" y="4590288"/>
            <a:ext cx="3218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B.C., N.B., Ontario, Alberta, Manitoba, Quebec + federal programs, with live source links.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83880" y="4023360"/>
            <a:ext cx="3657600" cy="1993392"/>
          </a:xfrm>
          <a:prstGeom prst="roundRect">
            <a:avLst>
              <a:gd name="adj" fmla="val 2752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403336" y="4279392"/>
            <a:ext cx="82296" cy="8229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1" name="Text 29"/>
          <p:cNvSpPr/>
          <p:nvPr/>
        </p:nvSpPr>
        <p:spPr>
          <a:xfrm>
            <a:off x="8586216" y="4187952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 FIRST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403336" y="4590288"/>
            <a:ext cx="32186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accounts. No tracking. Progress lives in the browser. MIT licensed. Deploy on Pages or a Node host.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02920" y="6510528"/>
            <a:ext cx="11185855" cy="10973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6547104"/>
            <a:ext cx="9326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4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SOURCE  ·  PRIVACY FIRST  ·  CANADA ALIGNED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CURRICULUM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Understand. Use. Build.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129844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progression as the National AI Literacy Initiative — then we go further.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3657600" cy="4526280"/>
          </a:xfrm>
          <a:prstGeom prst="roundRect">
            <a:avLst>
              <a:gd name="adj" fmla="val 1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755648"/>
            <a:ext cx="36576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1" name="Text 9"/>
          <p:cNvSpPr/>
          <p:nvPr/>
        </p:nvSpPr>
        <p:spPr>
          <a:xfrm>
            <a:off x="722376" y="195681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K–12 PATHS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58952" y="2450592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3" name="Text 11"/>
          <p:cNvSpPr/>
          <p:nvPr/>
        </p:nvSpPr>
        <p:spPr>
          <a:xfrm>
            <a:off x="941832" y="23591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AI works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58952" y="2889504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5" name="Text 13"/>
          <p:cNvSpPr/>
          <p:nvPr/>
        </p:nvSpPr>
        <p:spPr>
          <a:xfrm>
            <a:off x="941832" y="27980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Generative AI &amp; offloading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8952" y="3328416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7" name="Text 15"/>
          <p:cNvSpPr/>
          <p:nvPr/>
        </p:nvSpPr>
        <p:spPr>
          <a:xfrm>
            <a:off x="941832" y="32369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Bias, deepfakes, misinfo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58952" y="3767328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9" name="Text 17"/>
          <p:cNvSpPr/>
          <p:nvPr/>
        </p:nvSpPr>
        <p:spPr>
          <a:xfrm>
            <a:off x="941832" y="367588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 &amp; data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58952" y="4206240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" y="41148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integrity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58952" y="4645152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3" name="Text 21"/>
          <p:cNvSpPr/>
          <p:nvPr/>
        </p:nvSpPr>
        <p:spPr>
          <a:xfrm>
            <a:off x="941832" y="45537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Indigenous data · OCAP®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58952" y="5084064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5" name="Text 23"/>
          <p:cNvSpPr/>
          <p:nvPr/>
        </p:nvSpPr>
        <p:spPr>
          <a:xfrm>
            <a:off x="941832" y="49926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Responsible classroom use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58952" y="5522976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7" name="Text 25"/>
          <p:cNvSpPr/>
          <p:nvPr/>
        </p:nvSpPr>
        <p:spPr>
          <a:xfrm>
            <a:off x="941832" y="54315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Future-ready careers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343400" y="1755648"/>
            <a:ext cx="3657600" cy="4526280"/>
          </a:xfrm>
          <a:prstGeom prst="roundRect">
            <a:avLst>
              <a:gd name="adj" fmla="val 1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43400" y="1755648"/>
            <a:ext cx="36576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0" name="Text 28"/>
          <p:cNvSpPr/>
          <p:nvPr/>
        </p:nvSpPr>
        <p:spPr>
          <a:xfrm>
            <a:off x="4562856" y="195681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 → ENGINEER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99432" y="2450592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2" name="Text 30"/>
          <p:cNvSpPr/>
          <p:nvPr/>
        </p:nvSpPr>
        <p:spPr>
          <a:xfrm>
            <a:off x="4782312" y="23591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Elements of AI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99432" y="2889504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4" name="Text 32"/>
          <p:cNvSpPr/>
          <p:nvPr/>
        </p:nvSpPr>
        <p:spPr>
          <a:xfrm>
            <a:off x="4782312" y="27980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Generative AI for Beginners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99432" y="3328416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6" name="Text 34"/>
          <p:cNvSpPr/>
          <p:nvPr/>
        </p:nvSpPr>
        <p:spPr>
          <a:xfrm>
            <a:off x="4782312" y="32369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RAG capstone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599432" y="3767328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8" name="Text 36"/>
          <p:cNvSpPr/>
          <p:nvPr/>
        </p:nvSpPr>
        <p:spPr>
          <a:xfrm>
            <a:off x="4782312" y="367588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for Beginners / fast.ai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4599432" y="4206240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40" name="Text 38"/>
          <p:cNvSpPr/>
          <p:nvPr/>
        </p:nvSpPr>
        <p:spPr>
          <a:xfrm>
            <a:off x="4782312" y="41148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Hugging Face LLM Course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599432" y="4645152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42" name="Text 40"/>
          <p:cNvSpPr/>
          <p:nvPr/>
        </p:nvSpPr>
        <p:spPr>
          <a:xfrm>
            <a:off x="4782312" y="45537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Karpathy + nanoGPT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4599432" y="5084064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44" name="Text 42"/>
          <p:cNvSpPr/>
          <p:nvPr/>
        </p:nvSpPr>
        <p:spPr>
          <a:xfrm>
            <a:off x="4782312" y="49926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Agents + local evals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4599432" y="5522976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46" name="Text 44"/>
          <p:cNvSpPr/>
          <p:nvPr/>
        </p:nvSpPr>
        <p:spPr>
          <a:xfrm>
            <a:off x="4782312" y="54315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Resource Library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8183880" y="1755648"/>
            <a:ext cx="3657600" cy="4526280"/>
          </a:xfrm>
          <a:prstGeom prst="roundRect">
            <a:avLst>
              <a:gd name="adj" fmla="val 1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83880" y="1755648"/>
            <a:ext cx="36576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49" name="Text 47"/>
          <p:cNvSpPr/>
          <p:nvPr/>
        </p:nvSpPr>
        <p:spPr>
          <a:xfrm>
            <a:off x="8403336" y="1956816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SPINE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8439912" y="2450592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51" name="Text 49"/>
          <p:cNvSpPr/>
          <p:nvPr/>
        </p:nvSpPr>
        <p:spPr>
          <a:xfrm>
            <a:off x="8622792" y="23591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Mathematics for ML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8439912" y="2889504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53" name="Text 51"/>
          <p:cNvSpPr/>
          <p:nvPr/>
        </p:nvSpPr>
        <p:spPr>
          <a:xfrm>
            <a:off x="8622792" y="279806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CS229 / MIT 6.390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439912" y="3328416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55" name="Text 53"/>
          <p:cNvSpPr/>
          <p:nvPr/>
        </p:nvSpPr>
        <p:spPr>
          <a:xfrm>
            <a:off x="8622792" y="32369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d2l.ai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8439912" y="3767328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57" name="Text 55"/>
          <p:cNvSpPr/>
          <p:nvPr/>
        </p:nvSpPr>
        <p:spPr>
          <a:xfrm>
            <a:off x="8622792" y="3675888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CS231n / CS224n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439912" y="4206240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59" name="Text 57"/>
          <p:cNvSpPr/>
          <p:nvPr/>
        </p:nvSpPr>
        <p:spPr>
          <a:xfrm>
            <a:off x="8622792" y="411480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Prince · Understanding DL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8439912" y="4645152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61" name="Text 59"/>
          <p:cNvSpPr/>
          <p:nvPr/>
        </p:nvSpPr>
        <p:spPr>
          <a:xfrm>
            <a:off x="8622792" y="455371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Quizzes + activities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439912" y="5084064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63" name="Text 61"/>
          <p:cNvSpPr/>
          <p:nvPr/>
        </p:nvSpPr>
        <p:spPr>
          <a:xfrm>
            <a:off x="8622792" y="4992624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License-tagged sources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8439912" y="5522976"/>
            <a:ext cx="73152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65" name="Text 63"/>
          <p:cNvSpPr/>
          <p:nvPr/>
        </p:nvSpPr>
        <p:spPr>
          <a:xfrm>
            <a:off x="8622792" y="543153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certificates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FEDERAL POLICY NOW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All is the operating system.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1298448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Launched 4 June 2026. Literacy arm launched 9 September 2026 with Amii.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719072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192024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STRATEGY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77440" y="1847088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All — trust, opportunity, sovereignty. Target: +$200B growth, 250k AI-related jobs, adoption 12% → 60% by 2034.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2587752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27889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LITERACY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377440" y="2715768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National AI Literacy Initiative · $13M with Amii. Understand / Use / Build. 1M post-secondary students. 50k+ K–12 educators.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456432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3657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377440" y="3584448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Essentials for Students (3-hour free course) · Essentials for Educators (ch. 1 live 21 Sep 2026) · Essentials for Canadians (community, later 2026).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4325112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5262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SKILLS $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377440" y="4453128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CanCode $30M for K–12 digital + AI training via not-for-profits. Mitacs up to $162M / 10k AI work placements. 90k youth placements by 2031.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5193792"/>
            <a:ext cx="11155680" cy="786384"/>
          </a:xfrm>
          <a:prstGeom prst="roundRect">
            <a:avLst>
              <a:gd name="adj" fmla="val 6977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" y="539496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377440" y="5321808"/>
            <a:ext cx="9052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Education is provincial. Ottawa funds resources, educators, and youth skills — it does not write the B.C. curriculum.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WE MATCH POLICY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not pretend we are Amii. Become the local delivery layer they need.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1444752"/>
            <a:ext cx="5623560" cy="1444752"/>
          </a:xfrm>
          <a:prstGeom prst="roundRect">
            <a:avLst>
              <a:gd name="adj" fmla="val 3797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159105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1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22376" y="1901952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K–12 Foundations + Critical Thinking map onto Essentials. Bias, deepfakes, privacy, integrity — already written as classroom lessons, not a 3-hour survey.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309360" y="1444752"/>
            <a:ext cx="5623560" cy="1444752"/>
          </a:xfrm>
          <a:prstGeom prst="roundRect">
            <a:avLst>
              <a:gd name="adj" fmla="val 3797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8816" y="159105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1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28816" y="1901952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 Hub + responsible-use modules give schools a policy generator and student disclosure template that sit next to B.C. Ministry AI guidance.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3017520"/>
            <a:ext cx="5623560" cy="1444752"/>
          </a:xfrm>
          <a:prstGeom prst="roundRect">
            <a:avLst>
              <a:gd name="adj" fmla="val 3797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2376" y="316382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1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22376" y="3474720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Intro → Engineer → Academic tracks are the missing depth after Essentials. Open curricula. Local models. Agents with evals.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3017520"/>
            <a:ext cx="5623560" cy="1444752"/>
          </a:xfrm>
          <a:prstGeom prst="roundRect">
            <a:avLst>
              <a:gd name="adj" fmla="val 3797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28816" y="316382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1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28816" y="3474720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Privacy-first design, no student accounts, OCAP® module, academic integrity. Matches the strategy's child-protection and sovereignty language.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4590288"/>
            <a:ext cx="5623560" cy="1444752"/>
          </a:xfrm>
          <a:prstGeom prst="roundRect">
            <a:avLst>
              <a:gd name="adj" fmla="val 3797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47365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1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22376" y="5047488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Bilingual-ready i18n file. Grade bands K–5 / 6–8 / 9–12. Parent FAQ. Voice-over for accessibility. Works offline-ish in the browser.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309360" y="4590288"/>
            <a:ext cx="5623560" cy="1444752"/>
          </a:xfrm>
          <a:prstGeom prst="roundRect">
            <a:avLst>
              <a:gd name="adj" fmla="val 3797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28816" y="473659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1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COMPLEMENT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28816" y="5047488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Position as a classroom implementation kit for Essentials for Educators + a community partner for Essentials for Canadians — not a rival national course.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GRANT 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89611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Money follows eligible vehicles. Build the vehicle first.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1335024"/>
            <a:ext cx="11155680" cy="731520"/>
          </a:xfrm>
          <a:prstGeom prst="roundRect">
            <a:avLst>
              <a:gd name="adj" fmla="val 7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335024"/>
            <a:ext cx="91440" cy="7315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1408176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CanCode  ($30M)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886200" y="1426464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federal fit. Funds NFPs to deliver free K–12 coding + AI to youth and educators, with equity reach. Apply as a registered not-for-profit or as a delivery partner of an eligible org.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139696"/>
            <a:ext cx="11155680" cy="731520"/>
          </a:xfrm>
          <a:prstGeom prst="roundRect">
            <a:avLst>
              <a:gd name="adj" fmla="val 7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139696"/>
            <a:ext cx="91440" cy="7315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2212848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NALI / Amii  ($13M)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86200" y="2231136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an open RFP for a rival curriculum. Path: map SI lessons to Essentials for Educators, offer Richmond as a community pilot for Essentials for Canadians, request co-branded local delivery.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2944368"/>
            <a:ext cx="11155680" cy="731520"/>
          </a:xfrm>
          <a:prstGeom prst="roundRect">
            <a:avLst>
              <a:gd name="adj" fmla="val 7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2944368"/>
            <a:ext cx="91440" cy="7315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017520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Mitacs AI placements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886200" y="3035808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to $162M / 10k co-funded placements. Use for curriculum engineering, evaluation, and bilingual content once a Canadian host org + academic partner exists.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3749040"/>
            <a:ext cx="11155680" cy="731520"/>
          </a:xfrm>
          <a:prstGeom prst="roundRect">
            <a:avLst>
              <a:gd name="adj" fmla="val 7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749040"/>
            <a:ext cx="91440" cy="7315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2" name="Text 20"/>
          <p:cNvSpPr/>
          <p:nvPr/>
        </p:nvSpPr>
        <p:spPr>
          <a:xfrm>
            <a:off x="804672" y="3822192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StrongerBC FSG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886200" y="3840480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to $3,500 per eligible B.C. resident 19+ at public post-secondaries. Partner with a college/institute so the adult Richmond bootcamp becomes grant-eligible short training.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4553712"/>
            <a:ext cx="11155680" cy="731520"/>
          </a:xfrm>
          <a:prstGeom prst="roundRect">
            <a:avLst>
              <a:gd name="adj" fmla="val 7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4553712"/>
            <a:ext cx="91440" cy="7315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6" name="Text 24"/>
          <p:cNvSpPr/>
          <p:nvPr/>
        </p:nvSpPr>
        <p:spPr>
          <a:xfrm>
            <a:off x="804672" y="4626864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WorkBC / ITA youth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3886200" y="4645152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District + community-centre after-school delivery can sit under youth skills and career-education wraparounds already used by SD38 community schools.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2920" y="5358384"/>
            <a:ext cx="11155680" cy="731520"/>
          </a:xfrm>
          <a:prstGeom prst="roundRect">
            <a:avLst>
              <a:gd name="adj" fmla="val 7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5358384"/>
            <a:ext cx="91440" cy="7315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0" name="Text 28"/>
          <p:cNvSpPr/>
          <p:nvPr/>
        </p:nvSpPr>
        <p:spPr>
          <a:xfrm>
            <a:off x="804672" y="5431536"/>
            <a:ext cx="3017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Pacific / municipal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886200" y="5449824"/>
            <a:ext cx="7543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City of Richmond community grants, United Way BC community-schools lineage, and Pacific economic-development youth-STEM calls for the in-person site costs.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TO GET FUNDED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5-move compliance sequence.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02920" y="1389888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371600" y="144475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 up a Canadian vehicle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175564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B.C. society + CRA charity application, or nest under an existing education NFP / community centre. CanCode and most youth grants will not pay a personal GitHub repo.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322576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371600" y="237744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Lock curriculum crosswalks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268833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Publish a one-pager mapping every SI module to B.C. ADST + Career Education + Digital Literacy Framework + NALI Understand/Use/Build + SD38 Policy 104-G.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255264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371600" y="331012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 evidence, not vibes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36210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2–3 Richmond schools. Pre/post literacy rubric. Teacher hours saved. Attendance. Privacy DPIA. Letters from principals. That package is the grant.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" y="4187952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424281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Stack, don't chase one cheque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371600" y="455371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CanCode for youth delivery. City/United Way for venue. College partner for StrongerBC adult seats. Mitacs later for product + evaluation talent.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5120640"/>
            <a:ext cx="777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371600" y="5175504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 inside the rules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54864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PII. FIPPA-aware. No paid model training on school data. Disclose AI voice. Keep OCAP® accurate and attributed. Open-source the classroom layer.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B.C. HIGH SCHOOL IMPLEMENTATION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896112"/>
            <a:ext cx="11155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 through curriculum that already exists.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137160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1536192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ADST + CAREER 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" y="1938528"/>
            <a:ext cx="3255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Ministry already points AI learning to ADST (required K–9, electives 10–12) and Career Education. SI modules drop into existing blocks — no new provincial course required.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43400" y="137160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44568" y="1536192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BAA COURSE HOOK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44568" y="1938528"/>
            <a:ext cx="3255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SD38 approved Digital Literacy for an AI Enabled World (Gr. 11 BAA) for 2026/27. Offer SI as the open practice layer + Teacher Hub underneath that course and copies in other districts.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3880" y="137160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85048" y="1536192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POLICY, NOT PRODUCT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85048" y="1938528"/>
            <a:ext cx="3255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 with the traffic-light AI-use generator and student disclosure template. Boards buy risk reduction first. Curriculum rides second.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70332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4088" y="3867912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 TIME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04088" y="4270248"/>
            <a:ext cx="3255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a 90-minute PL package that mirrors district PLT structure. Printable lesson + quiz + activity. Total class time printed in the planner. Teachers will not rebuild your JSON.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43400" y="370332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44568" y="3867912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SHAPE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44568" y="4270248"/>
            <a:ext cx="3255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secondary + 1 middle. One ADST teacher-lead per site. 6-week sprint. Principal letter + parent FAQ. FIPPA review with district learning-services.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183880" y="3703320"/>
            <a:ext cx="3657600" cy="2194560"/>
          </a:xfrm>
          <a:prstGeom prst="roundRect">
            <a:avLst>
              <a:gd name="adj" fmla="val 250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85048" y="3867912"/>
            <a:ext cx="32552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SCALE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385048" y="4270248"/>
            <a:ext cx="325526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Package as a district resource, not a vendor LMS. GitHub Pages + optional Node TTS. Board IT can whitelist a single domain. Zero student logins.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RICHMOND FACE-TO-FACE BOOTCAMP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896112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Saturday academy the city can walk to.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1371600"/>
            <a:ext cx="5669280" cy="1298448"/>
          </a:xfrm>
          <a:prstGeom prst="roundRect">
            <a:avLst>
              <a:gd name="adj" fmla="val 4225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51790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1810512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Grades 8–12 first. Then a 19+ evening cohort once a public post-secondary partner makes StrongerBC seats possible.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788920"/>
            <a:ext cx="5669280" cy="1298448"/>
          </a:xfrm>
          <a:prstGeom prst="roundRect">
            <a:avLst>
              <a:gd name="adj" fmla="val 4225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93522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" y="3227832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 lab after hours, community centre (Cambie / South Arm / Steveston), or Richmond Public Library meeting rooms. SD38 already runs community-schools partnerships on site.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02920" y="4206240"/>
            <a:ext cx="5669280" cy="1298448"/>
          </a:xfrm>
          <a:prstGeom prst="roundRect">
            <a:avLst>
              <a:gd name="adj" fmla="val 4225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4352544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3232" y="4645152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Saturdays × 3 hours. Cap 20. One lead + one TA. Laptops provided or BYOD with a local-tool track so no student is forced onto a US cloud model.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55080" y="1371600"/>
            <a:ext cx="5303520" cy="4251960"/>
          </a:xfrm>
          <a:prstGeom prst="roundRect">
            <a:avLst>
              <a:gd name="adj" fmla="val 129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0" y="15361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SATURDAYS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629400" y="2029968"/>
            <a:ext cx="82296" cy="8229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0" y="19385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What AI is — systems, not magic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6629400" y="2560320"/>
            <a:ext cx="82296" cy="8229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246888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Generate, verify, cite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629400" y="3090672"/>
            <a:ext cx="82296" cy="8229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0" y="299923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Bias, deepfakes, persuasion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629400" y="3621024"/>
            <a:ext cx="82296" cy="8229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0" y="35295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Privacy, data, OCAP®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629400" y="4151376"/>
            <a:ext cx="82296" cy="8229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8" name="Text 26"/>
          <p:cNvSpPr/>
          <p:nvPr/>
        </p:nvSpPr>
        <p:spPr>
          <a:xfrm>
            <a:off x="6858000" y="40599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 Build a tiny local agent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629400" y="4681728"/>
            <a:ext cx="82296" cy="8229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0" y="45902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 Demo day + career map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ONLINE BOOTCAMP  ·  CANADA + GLOBAL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914400"/>
            <a:ext cx="11155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spine. Three doors.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2920" y="1417320"/>
            <a:ext cx="3657600" cy="3246120"/>
          </a:xfrm>
          <a:prstGeom prst="roundRect">
            <a:avLst>
              <a:gd name="adj" fmla="val 169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417320"/>
            <a:ext cx="36576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16276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04088" y="1965960"/>
            <a:ext cx="3255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SELF-PACED CANADA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4088" y="2651760"/>
            <a:ext cx="32552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existing SPA. Free. No login. Mastery in localStorage. French pass as soon as i18n is filled. Position as the always-on companion to Essentials for Students / Educators / Canadians.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343400" y="1417320"/>
            <a:ext cx="3657600" cy="3246120"/>
          </a:xfrm>
          <a:prstGeom prst="roundRect">
            <a:avLst>
              <a:gd name="adj" fmla="val 169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3400" y="1417320"/>
            <a:ext cx="36576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5" name="Text 13"/>
          <p:cNvSpPr/>
          <p:nvPr/>
        </p:nvSpPr>
        <p:spPr>
          <a:xfrm>
            <a:off x="4544568" y="16276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44568" y="1965960"/>
            <a:ext cx="3255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CANADA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44568" y="2651760"/>
            <a:ext cx="32552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8-week live cohort. Weekly 90-min seminar + async lessons. Teachers and senior secondary first. Certificates signed by the NFP. Waitlist via a single form. Zoom or Jitsi. No student LMS accounts required.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83880" y="1417320"/>
            <a:ext cx="3657600" cy="3246120"/>
          </a:xfrm>
          <a:prstGeom prst="roundRect">
            <a:avLst>
              <a:gd name="adj" fmla="val 1690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3880" y="1417320"/>
            <a:ext cx="3657600" cy="73152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0" name="Text 18"/>
          <p:cNvSpPr/>
          <p:nvPr/>
        </p:nvSpPr>
        <p:spPr>
          <a:xfrm>
            <a:off x="8385048" y="16276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85048" y="1965960"/>
            <a:ext cx="3255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OPEN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85048" y="2651760"/>
            <a:ext cx="325526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 Pages is already worldwide. Keep the Canadian policy explorer as a first-class module, add a Global track that swaps OCAP® context notes rather than erasing them. Time-zone office hours twice a week.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2920" y="484632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stack: GitHub Pages for the course · Beehiiv or Buttondown for cohort mail · Stripe later for optional global certificates · never for K–12 Canadian core.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02920" y="5440680"/>
            <a:ext cx="11155680" cy="868680"/>
          </a:xfrm>
          <a:prstGeom prst="roundRect">
            <a:avLst>
              <a:gd name="adj" fmla="val 6316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5577840"/>
            <a:ext cx="1074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Guardrails    Free K–12 core stays free. Paid tracks only above age 18 or outside Canadian public-school hours. No ads. No student data brokerage. WCAG-minded dark UI already ships.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OPERATING SYSTEM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005840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2070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1645920"/>
            <a:ext cx="321868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Vanilla JS SPA + JSON curriculum. Node / serverless TTS. CI on every push. Pages deploy with commit-stamped assets.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343400" y="1005840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2856" y="12070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CLASSROOM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62856" y="1645920"/>
            <a:ext cx="321868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 Hub planner, printable certificates, policy generator, parent FAQ. Designed for a Thursday PLT block.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183880" y="1005840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03336" y="12070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03336" y="1645920"/>
            <a:ext cx="321868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accounts. localStorage only. Open licenses on every library item. OCAP® named and linked, not appropriated.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3520440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37216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2376" y="4160520"/>
            <a:ext cx="321868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curriculum lead, one classroom lead, rotating TAs from local CS / ADST teachers and senior students.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43400" y="3520440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2856" y="37216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SHAPE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62856" y="4160520"/>
            <a:ext cx="321868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Near-zero marginal cost online. In-person cost is rooms, TAs, and laptops — fundable as youth programming.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183880" y="3520440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03336" y="37216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03336" y="4160520"/>
            <a:ext cx="321868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 B × Khan grammar. Black, orange, grey. Pixel-S mark. Frontier academy, not edtech pastel.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TWELVE-MONTH ROLL OUT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143000"/>
            <a:ext cx="109728" cy="9601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097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Q4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468880" y="1078992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FOUNDATION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468880" y="1463040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NFP / host org. Curriculum crosswalk PDF. FIPPA note. Two Richmond teacher champions. Public live site polish. First Saturday cohort waitlist.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2423160"/>
            <a:ext cx="109728" cy="9601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377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2027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468880" y="2359152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2468880" y="2743200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6-week school pilot + first Richmond Saturday academy. Teacher PL session. Evidence pack. CanCode partner conversation. French strings pass 1.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703320"/>
            <a:ext cx="109728" cy="9601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65760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Q2 2027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468880" y="3639312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 + WIDEN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468880" y="4023360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CanCode or partner submission. Second district conversation (Delta / Vancouver). Adult evening track with a college if StrongerBC eligible.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" y="4983480"/>
            <a:ext cx="109728" cy="9601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Q3 2027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468880" y="4919472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NATIONAL DOOR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2468880" y="5303520"/>
            <a:ext cx="9052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Online Canada cohort 1. Community-stream conversations for Essentials for Canadians. Mitacs scoping with a university lab.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GOOD LOOKS LIKE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9144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Year-one scoreboard. Small on purpose.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2920" y="1463040"/>
            <a:ext cx="3657600" cy="2084832"/>
          </a:xfrm>
          <a:prstGeom prst="roundRect">
            <a:avLst>
              <a:gd name="adj" fmla="val 2632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1719072"/>
            <a:ext cx="3218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722376" y="2560320"/>
            <a:ext cx="3218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Richmond school sites in a documented pilot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343400" y="1463040"/>
            <a:ext cx="3657600" cy="2084832"/>
          </a:xfrm>
          <a:prstGeom prst="roundRect">
            <a:avLst>
              <a:gd name="adj" fmla="val 2632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2856" y="1719072"/>
            <a:ext cx="3218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120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562856" y="2560320"/>
            <a:ext cx="3218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Saturday academy seats across two youth cohorts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83880" y="1463040"/>
            <a:ext cx="3657600" cy="2084832"/>
          </a:xfrm>
          <a:prstGeom prst="roundRect">
            <a:avLst>
              <a:gd name="adj" fmla="val 2632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03336" y="1719072"/>
            <a:ext cx="3218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403336" y="2560320"/>
            <a:ext cx="3218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through a 90-minute PL package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3657600" cy="2084832"/>
          </a:xfrm>
          <a:prstGeom prst="roundRect">
            <a:avLst>
              <a:gd name="adj" fmla="val 2632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2376" y="4005072"/>
            <a:ext cx="3218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22376" y="4846320"/>
            <a:ext cx="3218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CanCode or equivalent partnership in motion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343400" y="3749040"/>
            <a:ext cx="3657600" cy="2084832"/>
          </a:xfrm>
          <a:prstGeom prst="roundRect">
            <a:avLst>
              <a:gd name="adj" fmla="val 2632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62856" y="4005072"/>
            <a:ext cx="3218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WK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4562856" y="4846320"/>
            <a:ext cx="3218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national online cohort shipped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83880" y="3749040"/>
            <a:ext cx="3657600" cy="2084832"/>
          </a:xfrm>
          <a:prstGeom prst="roundRect">
            <a:avLst>
              <a:gd name="adj" fmla="val 2632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03336" y="4005072"/>
            <a:ext cx="3218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8403336" y="4846320"/>
            <a:ext cx="3218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accounts. Zero is the feature.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28016" cy="128016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29260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108960" y="29260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2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042855" y="29260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60" kern="0" dirty="0">
                <a:solidFill>
                  <a:srgbClr val="9A9A9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 /  16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713232"/>
            <a:ext cx="11185855" cy="13716"/>
          </a:xfrm>
          <a:prstGeom prst="rect">
            <a:avLst/>
          </a:prstGeom>
          <a:solidFill>
            <a:srgbClr val="2A2A2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914400"/>
            <a:ext cx="11155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need rooms, champions, and a legal wrapper.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02920" y="1463040"/>
            <a:ext cx="3657600" cy="2103120"/>
          </a:xfrm>
          <a:prstGeom prst="roundRect">
            <a:avLst>
              <a:gd name="adj" fmla="val 2609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16642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22376" y="2084832"/>
            <a:ext cx="3218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secondary ADST or Career Ed teachers and one administrator willing to run a 6-week pilot under existing B.C. curriculum connections.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43400" y="1463040"/>
            <a:ext cx="3657600" cy="2103120"/>
          </a:xfrm>
          <a:prstGeom prst="roundRect">
            <a:avLst>
              <a:gd name="adj" fmla="val 2609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62856" y="16642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DISTRICT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2856" y="2084832"/>
            <a:ext cx="3218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learning-services conversation on Policy 104-G alignment, a domain whitelist, and a community-schools room on Saturdays.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83880" y="1463040"/>
            <a:ext cx="3657600" cy="2103120"/>
          </a:xfrm>
          <a:prstGeom prst="roundRect">
            <a:avLst>
              <a:gd name="adj" fmla="val 2609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03336" y="16642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 ORG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03336" y="2084832"/>
            <a:ext cx="3218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existing B.C. education NFP, library, or society that can carry CanCode eligibility while SI Academy remains the open curriculum.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3749040"/>
            <a:ext cx="3657600" cy="2103120"/>
          </a:xfrm>
          <a:prstGeom prst="roundRect">
            <a:avLst>
              <a:gd name="adj" fmla="val 2609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2376" y="39502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COLLEGE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22376" y="4370832"/>
            <a:ext cx="3218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public post-secondary willing to explore a StrongerBC-eligible adult short course built on the Intro + Practitioner tracks.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343400" y="3749040"/>
            <a:ext cx="3657600" cy="2103120"/>
          </a:xfrm>
          <a:prstGeom prst="roundRect">
            <a:avLst>
              <a:gd name="adj" fmla="val 2609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62856" y="39502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62856" y="4370832"/>
            <a:ext cx="3218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Seed for 12 months of classroom lead + TA stipends + laptops. Not a Series A. A youth-skills grant.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183880" y="3749040"/>
            <a:ext cx="3657600" cy="2103120"/>
          </a:xfrm>
          <a:prstGeom prst="roundRect">
            <a:avLst>
              <a:gd name="adj" fmla="val 2609"/>
            </a:avLst>
          </a:prstGeom>
          <a:solidFill>
            <a:srgbClr val="141414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03336" y="39502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2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BUILDERS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403336" y="4370832"/>
            <a:ext cx="32186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French translation, lesson QA, and local-model lab support. The repo is public. PRs are the application.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34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ACADEMY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country funded the spark.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built the classroom.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5661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curriculum. Teacher tools. A Richmond room. A browser that works in Iqaluit and Lagos.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E8E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Match the federal story. Serve the provincial timetable. Keep student data at home.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5C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github.com/9lordisgod/ai-course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6B6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MIT LICENSE   ·   BLACK / ORANGE / GREY   ·   SEPTEMBER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 Academy — Super Intelligence Academy Pitch</dc:title>
  <dc:subject>Open-source K-12 AI literacy aligned with Canada's AI for All strategy</dc:subject>
  <dc:creator>SI Academy</dc:creator>
  <cp:lastModifiedBy>SI Academy</cp:lastModifiedBy>
  <cp:revision>1</cp:revision>
  <dcterms:created xsi:type="dcterms:W3CDTF">2026-10-01T01:10:06Z</dcterms:created>
  <dcterms:modified xsi:type="dcterms:W3CDTF">2026-10-01T01:10:06Z</dcterms:modified>
</cp:coreProperties>
</file>